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are Team 4. Our challenge is cabin comfort in a robotaxi, and we went</a:t>
            </a:r>
          </a:p>
          <a:p>
            <a:r>
              <a:t>at the least glamorous part of it - the floor. It turns out to be the part</a:t>
            </a:r>
          </a:p>
          <a:p>
            <a:r>
              <a:t>that decides whether a shared vehicle earns money or sits in a depot.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kinds of operator arriving at the same cabin. A private owner renting</a:t>
            </a:r>
          </a:p>
          <a:p>
            <a:r>
              <a:t>the car out part-time, and a fleet running it sixteen hours a day. The</a:t>
            </a:r>
          </a:p>
          <a:p>
            <a:r>
              <a:t>trend matrix we were shown had private and shared as separate cells - by</a:t>
            </a:r>
          </a:p>
          <a:p>
            <a:r>
              <a:t>2035 they are two business models sharing one vehicle. The fleet is where</a:t>
            </a:r>
          </a:p>
          <a:p>
            <a:r>
              <a:t>the volume is for a supplier: Goldman Sachs expects the global robotaxi</a:t>
            </a:r>
          </a:p>
          <a:p>
            <a:r>
              <a:t>fleet to grow from about seven thousand vehicles in 2024 to six million in</a:t>
            </a:r>
          </a:p>
          <a:p>
            <a:r>
              <a:t>2035 - thousands of identical vehicles on one specification. And Europe is</a:t>
            </a:r>
          </a:p>
          <a:p>
            <a:r>
              <a:t>not a side market for Autoneum, it is the largest one: forty-six percent of</a:t>
            </a:r>
          </a:p>
          <a:p>
            <a:r>
              <a:t>revenue, and shrinking organically. The private owner sets the harder</a:t>
            </a:r>
          </a:p>
          <a:p>
            <a:r>
              <a:t>requirement, because he has no depot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Challenge A asks for a heated mat for the driver of an autonomous truck.</a:t>
            </a:r>
          </a:p>
          <a:p>
            <a:r>
              <a:t>The word driver is in quotation marks on that slide, and we think that is</a:t>
            </a:r>
          </a:p>
          <a:p>
            <a:r>
              <a:t>the answer. If the truck drives itself, the cab interior loses its reason</a:t>
            </a:r>
          </a:p>
          <a:p>
            <a:r>
              <a:t>to exist - not just the mat, but the headliners, the side panels, the bunk</a:t>
            </a:r>
          </a:p>
          <a:p>
            <a:r>
              <a:t>bed support. Autonomy is a trend that kills existing Autoneum products.</a:t>
            </a:r>
          </a:p>
          <a:p>
            <a:r>
              <a:t>The right response is to follow the passenger, not the driver.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Salt, sand, a spilled coffee, flattened fibres. A private car carries two</a:t>
            </a:r>
          </a:p>
          <a:p>
            <a:r>
              <a:t>to four people a day. Waymo runs about half a million paid rides a week on</a:t>
            </a:r>
          </a:p>
          <a:p>
            <a:r>
              <a:t>three to four thousand vehicles - that is twenty-plus rides per car per day,</a:t>
            </a:r>
          </a:p>
          <a:p>
            <a:r>
              <a:t>each one a stranger. And nobody supervises a driverless cabin - whoever</a:t>
            </a:r>
          </a:p>
          <a:p>
            <a:r>
              <a:t>spills something simply gets out.</a:t>
            </a:r>
          </a:p>
          <a:p>
            <a:r>
              <a:t>Waymo already employs dedicated fleet handlers for this, in protective</a:t>
            </a:r>
          </a:p>
          <a:p>
            <a:r>
              <a:t>equipment, because passengers have started treating robotaxis like party</a:t>
            </a:r>
          </a:p>
          <a:p>
            <a:r>
              <a:t>buses. This is not a 2035 problem. It is happening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basic interior clean takes thirty to sixty minutes, and heavy soiling</a:t>
            </a:r>
          </a:p>
          <a:p>
            <a:r>
              <a:t>doubles or triples that. These are detailing-trade figures, not an</a:t>
            </a:r>
          </a:p>
          <a:p>
            <a:r>
              <a:t>automotive study - we flag that honestly - but the direction is not in</a:t>
            </a:r>
          </a:p>
          <a:p>
            <a:r>
              <a:t>doubt. For a fleet the money is not really the cleaning bill, it is the</a:t>
            </a:r>
          </a:p>
          <a:p>
            <a:r>
              <a:t>hour the vehicle spends not carrying anyone. Uptime is the entire product.</a:t>
            </a:r>
          </a:p>
          <a:p>
            <a:r>
              <a:t>And the private owner has it worse: no depot, no crew, just his garage on</a:t>
            </a:r>
          </a:p>
          <a:p>
            <a:r>
              <a:t>a Sunday.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Hotels do not deep-clean a room between guests, they change the contact</a:t>
            </a:r>
          </a:p>
          <a:p>
            <a:r>
              <a:t>layer. Mattress protector, sheet, duvet cover - each layer has one job,</a:t>
            </a:r>
          </a:p>
          <a:p>
            <a:r>
              <a:t>and the expensive core underneath is protected and almost never washed.</a:t>
            </a:r>
          </a:p>
          <a:p>
            <a:r>
              <a:t>Housekeeping is measured in minutes because of it. That is the whole idea</a:t>
            </a:r>
          </a:p>
          <a:p>
            <a:r>
              <a:t>we are proposing, applied to a vehicle floor: stop cleaning the car, and</a:t>
            </a:r>
          </a:p>
          <a:p>
            <a:r>
              <a:t>change the layer that got dirty.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 becomes a serviceable part instead of trim glued into the car. A</a:t>
            </a:r>
          </a:p>
          <a:p>
            <a:r>
              <a:t>wipe-clean mono-material skin so there are no fibres to trap salt and</a:t>
            </a:r>
          </a:p>
          <a:p>
            <a:r>
              <a:t>sand. A magnetic mount with no visible fasteners, so it lifts out in</a:t>
            </a:r>
          </a:p>
          <a:p>
            <a:r>
              <a:t>seconds without tools and there is nothing exposed for road salt to eat.</a:t>
            </a:r>
          </a:p>
          <a:p>
            <a:r>
              <a:t>And the important bit - the cleaning happens away from the vehicle. The</a:t>
            </a:r>
          </a:p>
          <a:p>
            <a:r>
              <a:t>car leaves the depot with a fresh panel while the dirty one is washed.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where the idea nearly died. An acoustic floor has to be open and</a:t>
            </a:r>
          </a:p>
          <a:p>
            <a:r>
              <a:t>porous so sound can get in and be absorbed. A cleanable floor wants to be</a:t>
            </a:r>
          </a:p>
          <a:p>
            <a:r>
              <a:t>closed so nothing gets in. Today you choose - a carpet that absorbs and</a:t>
            </a:r>
          </a:p>
          <a:p>
            <a:r>
              <a:t>stains, or a rubber mat that wipes and is loud. In a battery-electric</a:t>
            </a:r>
          </a:p>
          <a:p>
            <a:r>
              <a:t>robotaxi without engine noise that is worse, because road and wind noise</a:t>
            </a:r>
          </a:p>
          <a:p>
            <a:r>
              <a:t>are all that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of our research. Every ingredient exists inside Autoneum</a:t>
            </a:r>
          </a:p>
          <a:p>
            <a:r>
              <a:t>today. Washable surface flooring is a truck product that came in with the</a:t>
            </a:r>
          </a:p>
          <a:p>
            <a:r>
              <a:t>Borgers acquisition in 2023. Alpha-Liner is a wheelhouse liner whose</a:t>
            </a:r>
          </a:p>
          <a:p>
            <a:r>
              <a:t>coating is tuned so the textile still absorbs sound while the surface</a:t>
            </a:r>
          </a:p>
          <a:p>
            <a:r>
              <a:t>wipes clean - our exact conflict, already solved, just on the outside of</a:t>
            </a:r>
          </a:p>
          <a:p>
            <a:r>
              <a:t>the car. RIMIC proves you can absorb through a closed skin. And Autoneum</a:t>
            </a:r>
          </a:p>
          <a:p>
            <a:r>
              <a:t>even owns the measurement: the Carpet Cleanability Analyzer outputs a</a:t>
            </a:r>
          </a:p>
          <a:p>
            <a:r>
              <a:t>cleanability index today. None of these has ever been combined, and none</a:t>
            </a:r>
          </a:p>
          <a:p>
            <a:r>
              <a:t>has ever been offered in a passenger 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micro-perforation is the trick, and it is Autoneum's own: RIMIC</a:t>
            </a:r>
          </a:p>
          <a:p>
            <a:r>
              <a:t>heatshields are closed aluminium that still absorbs, because a tuned</a:t>
            </a:r>
          </a:p>
          <a:p>
            <a:r>
              <a:t>perforation turns airborne sound into heat. We take that principle inside</a:t>
            </a:r>
          </a:p>
          <a:p>
            <a:r>
              <a:t>and put it in a closed, hydrophobic skin over the absorber. Liquid beads</a:t>
            </a:r>
          </a:p>
          <a:p>
            <a:r>
              <a:t>off the top. Sound goes through the holes and into the absorber below.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product line, and it maps onto the distance axis of the trend</a:t>
            </a:r>
          </a:p>
          <a:p>
            <a:r>
              <a:t>matrix we were shown. Tier one is the city shuttle: it only has to come</a:t>
            </a:r>
          </a:p>
          <a:p>
            <a:r>
              <a:t>out fast and wipe clean. Tier two adds what a longer ride notices -</a:t>
            </a:r>
          </a:p>
          <a:p>
            <a:r>
              <a:t>acoustics, because ten minutes of road noise is tolerable and an hour is</a:t>
            </a:r>
          </a:p>
          <a:p>
            <a:r>
              <a:t>not, and a surface that actually looks designed, because shared interiors</a:t>
            </a:r>
          </a:p>
          <a:p>
            <a:r>
              <a:t>today look cheap for exactly one reason: hard-wearing and premium are</a:t>
            </a:r>
          </a:p>
          <a:p>
            <a:r>
              <a:t>opposites today. Tier three adds the heating.</a:t>
            </a:r>
          </a:p>
          <a:p>
            <a:r>
              <a:t>One interface carries all three, which is what makes it a platform rather</a:t>
            </a:r>
          </a:p>
          <a:p>
            <a:r>
              <a:t>than three products. The fleet buys tier one by the thousand because</a:t>
            </a:r>
          </a:p>
          <a:p>
            <a:r>
              <a:t>cleaning is downtime; the private owner clips a tier-two skin on for his</a:t>
            </a:r>
          </a:p>
          <a:p>
            <a:r>
              <a:t>own weekend; tier three goes into the cabins people pay extra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mount takes a heated skin, and that is where the premium tier</a:t>
            </a:r>
          </a:p>
          <a:p>
            <a:r>
              <a:t>sits. Two ends of one market: a Waymo or Zoox fleet buys the base panel by</a:t>
            </a:r>
          </a:p>
          <a:p>
            <a:r>
              <a:t>the thousand because cleaning is downtime, and a Rolls-Royce-class cabin</a:t>
            </a:r>
          </a:p>
          <a:p>
            <a:r>
              <a:t>buys the heated one because the customer pays for arriving warm. Long</a:t>
            </a:r>
          </a:p>
          <a:p>
            <a:r>
              <a:t>distance, premium service, the feel-at-home cabin. Radiant</a:t>
            </a:r>
          </a:p>
          <a:p>
            <a:r>
              <a:t>surfaces deliver comfort at around two hundred watts where blown air needs</a:t>
            </a:r>
          </a:p>
          <a:p>
            <a:r>
              <a:t>about four and a half kilowatts, and with warm floor and walls people feel</a:t>
            </a:r>
          </a:p>
          <a:p>
            <a:r>
              <a:t>neutral about six degrees below the set air temperature. Be careful with</a:t>
            </a:r>
          </a:p>
          <a:p>
            <a:r>
              <a:t>the claim: this does not heat the cabin, and the air system stays because</a:t>
            </a:r>
          </a:p>
          <a:p>
            <a:r>
              <a:t>demisting the windscreen is a legal requirement. It heats the person. On a</a:t>
            </a:r>
          </a:p>
          <a:p>
            <a:r>
              <a:t>two-hour winter trip that is the difference between arriving comfortable</a:t>
            </a:r>
          </a:p>
          <a:p>
            <a:r>
              <a:t>and arriving with a flat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measurements, not three slides. The one we want on stage on Friday</a:t>
            </a:r>
          </a:p>
          <a:p>
            <a:r>
              <a:t>is the swap - a stopwatch, a dirty panel out, a clean one in. The open</a:t>
            </a:r>
          </a:p>
          <a:p>
            <a:r>
              <a:t>question we already know about is what the heating layer costs the</a:t>
            </a:r>
          </a:p>
          <a:p>
            <a:r>
              <a:t>acoustics, because anything we add between the skin and the absorber is in</a:t>
            </a:r>
          </a:p>
          <a:p>
            <a:r>
              <a:t>the sound path.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robotaxi-cabin-flo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1097280" y="2103120"/>
            <a:ext cx="94484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Swap, do not scrub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One mount, three tiers - from a city shuttle to a luxury cabin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23560"/>
            <a:ext cx="94484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4  ·  Autoneum Challenge 2026 - Midterm  ·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By 2035 one car serves two owners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USE CASE A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Owner-operated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Two hours the owner, the rest a robotaxi.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5378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USE CASE B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Fleet-operated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The same car, 16 hours a day. Six million of them by 2035.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6" y="1874519"/>
            <a:ext cx="3240938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SEGMENT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C/D-segment BEV, Level 4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Europe and Switzerland, city. Autoneum's largest market, 46 % of revenue.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2/13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6E6E6E"/>
                </a:solidFill>
                <a:latin typeface="Arial"/>
              </a:rPr>
              <a:t>Source: Goldman Sachs, Robotaxis to become a $400 bn market in 2035 (Apr 2026); Autoneum FY2025 revenue release (Jan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WHY NOT THE TRUCK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The truck loses its driver, so its heated mat loses its user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The whole cab interior exists because a human sleeps in it.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uined-shared-car-flo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822960" y="4572000"/>
            <a:ext cx="9174175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This is what twenty strangers a day leave behind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 private car carries 2-4 people a day. A Waymo does 20+ paid rides, with nobody watching.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FFFFFF"/>
                </a:solidFill>
                <a:latin typeface="Arial"/>
              </a:rPr>
              <a:t>4/13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FFFFFF"/>
                </a:solidFill>
                <a:latin typeface="Arial"/>
              </a:rPr>
              <a:t>Source: Waymo, ~500,000 paid rides a week on ~3,000-3,700 vehicles (TechCrunch, CNBC, Dec 2025 - Mar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Cleaning is the one thing a robotaxi cannot do while 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40279"/>
            <a:ext cx="3240938" cy="3886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A BASIC INTERIOR CLEAN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30-60 min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heavy soiling doubles or triples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75378" y="2240279"/>
            <a:ext cx="3240938" cy="3886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PER CLEAN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USD 60-150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routine, up to 500 when bad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7796" y="2240279"/>
            <a:ext cx="3240938" cy="38862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FOR THE OPERATOR</a:t>
            </a:r>
          </a:p>
          <a:p>
            <a:pPr algn="l"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= downtime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it earns only while carrying people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5/13</a:t>
            </a:r>
          </a:p>
        </p:txBody>
      </p:sp>
      <p:sp>
        <p:nvSpPr>
          <p:cNvPr id="9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6E6E6E"/>
                </a:solidFill>
                <a:latin typeface="Arial"/>
              </a:rPr>
              <a:t>Source: Consumer detailing trade estimates, 2025 (not an automotive study); press reporting on Waymo fleet handlers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LEARNING FROM ANOTHER INDUSTRY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A luxury hotel never cleans the mattress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It cleans the layer above it. Each layer has one job, and the one that touches the guest is replaced every time.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 floor that swaps in seconds and is cleaned off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4998567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The mat becomes a serviceable part.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Wipe-clean skin, mono-material PET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No fibres to hold dirt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Magnetic mount, no visible fasteners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Out in seconds, no tools</a:t>
            </a:r>
          </a:p>
          <a:p>
            <a:pPr algn="l">
              <a:spcAft>
                <a:spcPts val="30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Cleaned off the vehicle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car goes back out, the panel is washed</a:t>
            </a:r>
          </a:p>
        </p:txBody>
      </p:sp>
      <p:pic>
        <p:nvPicPr>
          <p:cNvPr id="5" name="07-swap-lift-ou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70167" y="2596473"/>
            <a:ext cx="4998567" cy="2716612"/>
          </a:xfrm>
          <a:prstGeom prst="rect">
            <a:avLst/>
          </a:prstGeom>
        </p:spPr>
      </p:pic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7/13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1463040"/>
            <a:ext cx="9631375" cy="4023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>
                <a:solidFill>
                  <a:srgbClr val="78BE20"/>
                </a:solidFill>
                <a:latin typeface="Arial"/>
              </a:rPr>
              <a:t>THE HARDER PROBLEM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4000" b="1">
                <a:solidFill>
                  <a:srgbClr val="1A1A1A"/>
                </a:solidFill>
                <a:latin typeface="Arial"/>
              </a:rPr>
              <a:t>A floor you can wipe is a floor that is acoustically dead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6E6E6E"/>
                </a:solidFill>
                <a:latin typeface="Arial"/>
              </a:rPr>
              <a:t>Absorption needs an open, porous surface. Cleaning wants a closed one. Today you pick one.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Autoneum has already solved all of it, just never in the same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74519"/>
          <a:ext cx="1054577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441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We need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Autoneum has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Where it sits</a:t>
                      </a:r>
                    </a:p>
                  </a:txBody>
                  <a:tcPr>
                    <a:solidFill>
                      <a:srgbClr val="78BE20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Washable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Washable surface flooring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Trucks (Borgers,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Wipeable yet acoustic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Alpha-Liner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Wheelhouse, outside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Absorb through a closed skin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RIMIC micro-perforation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Heatshields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Cleanability metric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Cleanability Analyzer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Internal lab</a:t>
                      </a:r>
                    </a:p>
                  </a:txBody>
                  <a:tcPr>
                    <a:solidFill>
                      <a:srgbClr val="F4F6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Heating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(Heated) Floor mats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Trucks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9/13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6E6E6E"/>
                </a:solidFill>
                <a:latin typeface="Arial"/>
              </a:rPr>
              <a:t>Source: Autoneum Challenge deck, 7 Sep 2026, slides 6-7; Autoneum product brochure 2021; Autoneum press release on Borgers, Apr 2023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One panel, three layers, every one of them in-house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997135" cy="4251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Wipe-clean skin, micro-perforated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Liquid beads off, sound passes through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Absorber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Hybrid-Acoustics PET, the acoustics</a:t>
            </a:r>
          </a:p>
          <a:p>
            <a:pPr algn="l">
              <a:spcAft>
                <a:spcPts val="300"/>
              </a:spcAft>
            </a:pPr>
            <a:r>
              <a:rPr sz="1800" b="1">
                <a:solidFill>
                  <a:srgbClr val="1A1A1A"/>
                </a:solidFill>
                <a:latin typeface="Arial"/>
              </a:rPr>
              <a:t>Magnetic mount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No contacts, no cable, lifts out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22960" y="566928"/>
            <a:ext cx="10545775" cy="10515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One mount, three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28216"/>
            <a:ext cx="822960" cy="44450"/>
          </a:xfrm>
          <a:prstGeom prst="rect">
            <a:avLst/>
          </a:prstGeom>
          <a:solidFill>
            <a:srgbClr val="78B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6E6E6E"/>
                </a:solidFill>
                <a:latin typeface="Arial"/>
              </a:rPr>
              <a:t>Each tier adds to the one below. Same interface all the way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1 - SHORT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Swap and wipe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Out in seconds, cleaned off the vehicle.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75378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2 - MEDIUM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Quiet and premium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Perforated skin over the absorber. And it looks designed.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7796" y="2560319"/>
            <a:ext cx="3240938" cy="3566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78BE20"/>
                </a:solidFill>
                <a:latin typeface="Arial"/>
              </a:rPr>
              <a:t>3 - LONG DISTANCE</a:t>
            </a:r>
          </a:p>
          <a:p>
            <a:pPr algn="l">
              <a:spcAft>
                <a:spcPts val="800"/>
              </a:spcAft>
            </a:pPr>
            <a:r>
              <a:rPr sz="1900" b="1">
                <a:solidFill>
                  <a:srgbClr val="1A1A1A"/>
                </a:solidFill>
                <a:latin typeface="Arial"/>
              </a:rPr>
              <a:t>Warm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Heating tracks under the skin. Feel at home.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6E6E6E"/>
                </a:solidFill>
                <a:latin typeface="Arial"/>
              </a:rPr>
              <a:t>Swap, do not scrub</a:t>
            </a:r>
          </a:p>
        </p:txBody>
      </p:sp>
      <p:sp>
        <p:nvSpPr>
          <p:cNvPr id="9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6E6E6E"/>
                </a:solidFill>
                <a:latin typeface="Arial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driverless-lounge-interio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00000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822960" y="4572000"/>
            <a:ext cx="9174175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3400" b="1">
                <a:solidFill>
                  <a:srgbClr val="FFFFFF"/>
                </a:solidFill>
                <a:latin typeface="Arial"/>
              </a:rPr>
              <a:t>The warm version is for the journeys people pay extra for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Around 200 W instead of 4,500 - and winter costs an EV 20-40 % of its range. Feel at home.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Arial"/>
              </a:rPr>
              <a:t>Swap, do not scrub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822960" y="635508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>
                <a:solidFill>
                  <a:srgbClr val="FFFFFF"/>
                </a:solidFill>
                <a:latin typeface="Arial"/>
              </a:rPr>
              <a:t>12/13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822960" y="606247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i="1">
                <a:solidFill>
                  <a:srgbClr val="FFFFFF"/>
                </a:solidFill>
                <a:latin typeface="Arial"/>
              </a:rPr>
              <a:t>Source: Applied Thermal Engineering 2024; Energy and Buildings 2026; AAA EV range test 2019 (-41 % at -7 C with heating); US DOE VTO 2024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822960" y="2011680"/>
            <a:ext cx="963137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800" b="1">
                <a:solidFill>
                  <a:srgbClr val="FFFFFF"/>
                </a:solidFill>
                <a:latin typeface="Arial"/>
              </a:rPr>
              <a:t>What we will prove by Friday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Swap time - panel out, panel in, on a stopwatch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Cleanability - our skin against a carpet, on Autoneum's index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Arial"/>
              </a:rPr>
              <a:t>—  Absorption - through a perforated skin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Sources: Autoneum challenge deck 2026, product brochure 2021, FY2025 release, Borgers release 2023; Goldman Sachs 2026; TechCrunch and CNBC on Waymo; AAA 2019, US DOE 2024; Applied Thermal Engineering 2024, Energy and Buildings 2026. Full references in the presenter script.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